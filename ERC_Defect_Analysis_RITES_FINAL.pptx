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090" r:id="rId10"/>
    <p:sldId id="2091" r:id="rId11"/>
    <p:sldId id="2092" r:id="rId12"/>
    <p:sldId id="2093" r:id="rId13"/>
    <p:sldId id="2094" r:id="rId14"/>
    <p:sldId id="2095" r:id="rId15"/>
    <p:sldId id="2096" r:id="rId16"/>
    <p:sldId id="2097" r:id="rId17"/>
    <p:sldId id="2098" r:id="rId18"/>
    <p:sldId id="2099" r:id="rId19"/>
    <p:sldId id="2100" r:id="rId20"/>
    <p:sldId id="2101" r:id="rId21"/>
    <p:sldId id="2102" r:id="rId22"/>
    <p:sldId id="2103" r:id="rId23"/>
    <p:sldId id="2104" r:id="rId24"/>
    <p:sldId id="2105" r:id="rId25"/>
    <p:sldId id="2106" r:id="rId26"/>
    <p:sldId id="2107" r:id="rId27"/>
    <p:sldId id="2108" r:id="rId28"/>
    <p:sldId id="2109" r:id="rId29"/>
    <p:sldId id="2110" r:id="rId30"/>
    <p:sldId id="2111" r:id="rId31"/>
    <p:sldId id="2112" r:id="rId32"/>
    <p:sldId id="2113" r:id="rId33"/>
    <p:sldId id="2114" r:id="rId34"/>
    <p:sldId id="211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C8CF"/>
    <a:srgbClr val="A1A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34089-1EB5-4261-B2BB-34A584A126F4}" v="45" dt="2026-02-01T17:31:30.297"/>
  </p1510:revLst>
</p1510:revInfo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0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in  Rajput" userId="44d29cf8-ed2f-45e0-a235-7d9f94fbaf3d" providerId="ADAL" clId="{944424A7-BFBF-44AB-8800-091411110887}"/>
    <pc:docChg chg="undo custSel modSld">
      <pc:chgData name="Nitin  Rajput" userId="44d29cf8-ed2f-45e0-a235-7d9f94fbaf3d" providerId="ADAL" clId="{944424A7-BFBF-44AB-8800-091411110887}" dt="2026-02-01T17:31:30.297" v="50" actId="478"/>
      <pc:docMkLst>
        <pc:docMk/>
      </pc:docMkLst>
      <pc:sldChg chg="addSp delSp modSp mod">
        <pc:chgData name="Nitin  Rajput" userId="44d29cf8-ed2f-45e0-a235-7d9f94fbaf3d" providerId="ADAL" clId="{944424A7-BFBF-44AB-8800-091411110887}" dt="2026-02-01T17:31:30.297" v="50" actId="478"/>
        <pc:sldMkLst>
          <pc:docMk/>
          <pc:sldMk cId="3944474515" sldId="2089"/>
        </pc:sldMkLst>
        <pc:spChg chg="mod">
          <ac:chgData name="Nitin  Rajput" userId="44d29cf8-ed2f-45e0-a235-7d9f94fbaf3d" providerId="ADAL" clId="{944424A7-BFBF-44AB-8800-091411110887}" dt="2026-02-01T17:27:56.786" v="49" actId="1076"/>
          <ac:spMkLst>
            <pc:docMk/>
            <pc:sldMk cId="3944474515" sldId="2089"/>
            <ac:spMk id="3" creationId="{87877D4E-9426-E2AF-CD3A-B7F22A7D932E}"/>
          </ac:spMkLst>
        </pc:spChg>
        <pc:spChg chg="add mod">
          <ac:chgData name="Nitin  Rajput" userId="44d29cf8-ed2f-45e0-a235-7d9f94fbaf3d" providerId="ADAL" clId="{944424A7-BFBF-44AB-8800-091411110887}" dt="2026-02-01T17:27:56.786" v="49" actId="1076"/>
          <ac:spMkLst>
            <pc:docMk/>
            <pc:sldMk cId="3944474515" sldId="2089"/>
            <ac:spMk id="4" creationId="{8EF4D61C-C0D6-BC48-BBD6-790FC2FE1DC4}"/>
          </ac:spMkLst>
        </pc:spChg>
        <pc:grpChg chg="add del mod">
          <ac:chgData name="Nitin  Rajput" userId="44d29cf8-ed2f-45e0-a235-7d9f94fbaf3d" providerId="ADAL" clId="{944424A7-BFBF-44AB-8800-091411110887}" dt="2026-02-01T17:31:30.297" v="50" actId="478"/>
          <ac:grpSpMkLst>
            <pc:docMk/>
            <pc:sldMk cId="3944474515" sldId="2089"/>
            <ac:grpSpMk id="5" creationId="{489AE792-7325-D7FF-0A14-0ABDC6FEAA2D}"/>
          </ac:grpSpMkLst>
        </pc:grpChg>
        <pc:picChg chg="add del mod">
          <ac:chgData name="Nitin  Rajput" userId="44d29cf8-ed2f-45e0-a235-7d9f94fbaf3d" providerId="ADAL" clId="{944424A7-BFBF-44AB-8800-091411110887}" dt="2026-02-01T17:27:56.786" v="49" actId="1076"/>
          <ac:picMkLst>
            <pc:docMk/>
            <pc:sldMk cId="3944474515" sldId="2089"/>
            <ac:picMk id="2" creationId="{AA74C00F-B380-05A5-D415-E60CE9B6DA75}"/>
          </ac:picMkLst>
        </pc:picChg>
        <pc:picChg chg="mod">
          <ac:chgData name="Nitin  Rajput" userId="44d29cf8-ed2f-45e0-a235-7d9f94fbaf3d" providerId="ADAL" clId="{944424A7-BFBF-44AB-8800-091411110887}" dt="2026-01-30T09:24:49.888" v="26" actId="1035"/>
          <ac:picMkLst>
            <pc:docMk/>
            <pc:sldMk cId="3944474515" sldId="2089"/>
            <ac:picMk id="98" creationId="{5D68568E-B104-77A8-4A81-1172815C0FA6}"/>
          </ac:picMkLst>
        </pc:picChg>
        <pc:picChg chg="add mod">
          <ac:chgData name="Nitin  Rajput" userId="44d29cf8-ed2f-45e0-a235-7d9f94fbaf3d" providerId="ADAL" clId="{944424A7-BFBF-44AB-8800-091411110887}" dt="2026-02-01T17:27:56.786" v="49" actId="1076"/>
          <ac:picMkLst>
            <pc:docMk/>
            <pc:sldMk cId="3944474515" sldId="2089"/>
            <ac:picMk id="1026" creationId="{23D7614B-5C92-74A7-8CE8-6D18BF1D10C5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90DD8-1E8E-4467-80A6-48217CD7D004}" type="datetimeFigureOut"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07336-1104-4C9E-8758-4533D0B585E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68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8B445E49-2855-1106-C7A0-9A5C8E1F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ee3f087a9_0_18:notes">
            <a:extLst>
              <a:ext uri="{FF2B5EF4-FFF2-40B4-BE49-F238E27FC236}">
                <a16:creationId xmlns:a16="http://schemas.microsoft.com/office/drawing/2014/main" id="{E93B01D5-4851-D56D-1A36-52AA33DC7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5" name="Google Shape;95;g34ee3f087a9_0_18:notes">
            <a:extLst>
              <a:ext uri="{FF2B5EF4-FFF2-40B4-BE49-F238E27FC236}">
                <a16:creationId xmlns:a16="http://schemas.microsoft.com/office/drawing/2014/main" id="{BAD38E78-09D6-8BA2-A510-C8BB9BE60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4059" y="4748396"/>
            <a:ext cx="5387679" cy="3884052"/>
          </a:xfrm>
          <a:prstGeom prst="rect">
            <a:avLst/>
          </a:prstGeom>
        </p:spPr>
        <p:txBody>
          <a:bodyPr spcFirstLastPara="1" wrap="square" lIns="93004" tIns="46502" rIns="93004" bIns="46502" anchor="t" anchorCtr="0">
            <a:noAutofit/>
          </a:bodyPr>
          <a:lstStyle/>
          <a:p>
            <a:endParaRPr/>
          </a:p>
        </p:txBody>
      </p:sp>
      <p:sp>
        <p:nvSpPr>
          <p:cNvPr id="96" name="Google Shape;96;g34ee3f087a9_0_18:notes">
            <a:extLst>
              <a:ext uri="{FF2B5EF4-FFF2-40B4-BE49-F238E27FC236}">
                <a16:creationId xmlns:a16="http://schemas.microsoft.com/office/drawing/2014/main" id="{9EB85308-FC15-059E-3F4F-1B16A5F304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15932" y="9371496"/>
            <a:ext cx="2918276" cy="494675"/>
          </a:xfrm>
          <a:prstGeom prst="rect">
            <a:avLst/>
          </a:prstGeom>
        </p:spPr>
        <p:txBody>
          <a:bodyPr spcFirstLastPara="1" wrap="square" lIns="93004" tIns="46502" rIns="93004" bIns="46502" anchor="b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IN"/>
              <a:pPr>
                <a:buClr>
                  <a:srgbClr val="000000"/>
                </a:buClr>
              </a:pPr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0397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0931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EDE098E-CFBE-17FF-B91D-5471F8232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>
            <a:extLst>
              <a:ext uri="{FF2B5EF4-FFF2-40B4-BE49-F238E27FC236}">
                <a16:creationId xmlns:a16="http://schemas.microsoft.com/office/drawing/2014/main" id="{5D68568E-B104-77A8-4A81-1172815C0F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7490" y="-2679941"/>
            <a:ext cx="3654875" cy="81418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47451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Toe load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Marking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3840480"/>
            <a:ext cx="164592" cy="164592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87000" y="38221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Flat Bearing Area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058400" y="4160520"/>
            <a:ext cx="164592" cy="164592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287000" y="41422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Hardness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AMBE FASTNERS PVT.LTD. Patna Bihar</a:t>
            </a:r>
          </a:p>
        </p:txBody>
      </p:sp>
      <p:pic>
        <p:nvPicPr>
          <p:cNvPr id="121" name="Picture 120" descr="AMBE FASTNERS PVT.LTD. Patna Bih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22" name="Table 121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207730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0.93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13716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0.28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54536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1.19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64388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1.10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40443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0.80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34664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4" name="TextBox 123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Adinath Industries Bhiwadi Haryana</a:t>
            </a:r>
          </a:p>
        </p:txBody>
      </p:sp>
      <p:pic>
        <p:nvPicPr>
          <p:cNvPr id="125" name="Picture 124" descr="Adinath Industries Bhiwadi Hary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2270332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12720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0.56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7" name="Table 126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8440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85168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131767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0.77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231889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0.76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203101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284558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242203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0.71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163413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0.52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176936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0.42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170675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0.41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155705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0.42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165193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0.34</a:t>
                      </a:r>
                    </a:p>
                  </a:txBody>
                  <a:tcPr/>
                </a:tc>
              </a:tr>
              <a:tr h="8440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137207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Hardness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Marking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Bar Diameter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Adinath Industries INC Unit 1 Bhiwadi Haryana</a:t>
            </a:r>
          </a:p>
        </p:txBody>
      </p:sp>
      <p:pic>
        <p:nvPicPr>
          <p:cNvPr id="117" name="Picture 116" descr="Adinath Industries INC Unit 1 Bhiwadi Hary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2178594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11529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0.53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9" name="Table 118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8440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80789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79586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0.74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74068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438233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304516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0.57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226436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0.63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203671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225943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0.51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195440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160472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117846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0.29</a:t>
                      </a:r>
                    </a:p>
                  </a:txBody>
                  <a:tcPr/>
                </a:tc>
              </a:tr>
              <a:tr h="8440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71594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0" name="TextBox 119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Adinath Industries INC Unit 2 Bhiwadi Haryana</a:t>
            </a:r>
          </a:p>
        </p:txBody>
      </p:sp>
      <p:pic>
        <p:nvPicPr>
          <p:cNvPr id="121" name="Picture 120" descr="Adinath Industries INC Unit 2 Bhiwadi Hary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2" name="Table 121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309289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0.64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174072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135217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Marking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Hardness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Avdesh Tracks(P) Ltd. Mohali Punjab</a:t>
            </a:r>
          </a:p>
        </p:txBody>
      </p:sp>
      <p:pic>
        <p:nvPicPr>
          <p:cNvPr id="115" name="Picture 114" descr="Avdesh Tracks(P) Ltd. Mohali Punj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16" name="Table 115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1301242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8462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0.65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9144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53296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4.17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154267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0.55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145665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198608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177753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0.53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128620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109358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90677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0.35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117392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0.34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109402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0.46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Bimla Rail Fasteners Karnal Haryana</a:t>
            </a:r>
          </a:p>
        </p:txBody>
      </p:sp>
      <p:pic>
        <p:nvPicPr>
          <p:cNvPr id="119" name="Picture 118" descr="Bimla Rail Fasteners Karnal Hary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730104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3788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0.52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1" name="Table 120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13716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233644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0.57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204540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0.69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110893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0.43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0.53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127933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0.24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MPI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Bar Diameter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Bridge Track &amp; Tower Pvt Ltd Raipur  Chhatishgarh</a:t>
            </a:r>
          </a:p>
        </p:txBody>
      </p:sp>
      <p:pic>
        <p:nvPicPr>
          <p:cNvPr id="117" name="Picture 116" descr="Bridge Track &amp; Tower Pvt Ltd Raipur  Chhatishgar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5146764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62805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1.22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9" name="Table 118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8440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410802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1.68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351670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343228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1.37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380851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1.28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548699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1.32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482534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1.36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337924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1.43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697985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1.20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473904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1.16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613766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1.02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225745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0.89</a:t>
                      </a:r>
                    </a:p>
                  </a:txBody>
                  <a:tcPr/>
                </a:tc>
              </a:tr>
              <a:tr h="8440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54808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0.19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0" name="TextBox 119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CALCUTTA SPRINGS LTD. Howrah West Bengal</a:t>
            </a:r>
          </a:p>
        </p:txBody>
      </p:sp>
      <p:pic>
        <p:nvPicPr>
          <p:cNvPr id="121" name="Picture 120" descr="CALCUTTA SPRINGS LTD. Howrah West Beng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2" name="Table 121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2635973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18279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0.69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9144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197928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1.01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256114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0.86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302561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0.71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375049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0.79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318458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0.83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417139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355915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0.53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198328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0.46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113463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0.51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85419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0.84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Hardness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Marking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384048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87000" y="38221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MPI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058400" y="4160520"/>
            <a:ext cx="164592" cy="16459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287000" y="41422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Visual  (Sheared Edges, Surface Defects)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Cemcon Railway Industries Gohana Haryana</a:t>
            </a:r>
          </a:p>
        </p:txBody>
      </p:sp>
      <p:pic>
        <p:nvPicPr>
          <p:cNvPr id="121" name="Picture 120" descr="Cemcon Railway Industries Gohana Hary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22" name="Table 121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354303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3636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1.03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109728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67026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0.90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32624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1.42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40630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1.91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1.49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50657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1.29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40732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1.19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46504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0.38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52699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4" name="TextBox 123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Cosmo Enterprise Raipur  Chhatishgarh</a:t>
            </a:r>
          </a:p>
        </p:txBody>
      </p:sp>
      <p:pic>
        <p:nvPicPr>
          <p:cNvPr id="125" name="Picture 124" descr="Cosmo Enterprise Raipur  Chhatishgar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461200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3207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0.70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7" name="Table 126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21945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292591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0.89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168609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Hardness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Marking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384048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87000" y="38221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MPI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Fateh Chand Jain Faridabad Haryana</a:t>
            </a:r>
          </a:p>
        </p:txBody>
      </p:sp>
      <p:pic>
        <p:nvPicPr>
          <p:cNvPr id="119" name="Picture 118" descr="Fateh Chand Jain Faridabad Hary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1439148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6056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0.42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1" name="Table 120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8440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72727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0.63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0.71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138902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0.84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132743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54772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1.46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144113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0.33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151718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104320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0.23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104777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0.18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167505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0.26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99053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0.28</a:t>
                      </a:r>
                    </a:p>
                  </a:txBody>
                  <a:tcPr/>
                </a:tc>
              </a:tr>
              <a:tr h="8440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94593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Jee Kay International Track Pvt. Urla Raipur</a:t>
            </a:r>
          </a:p>
        </p:txBody>
      </p:sp>
      <p:pic>
        <p:nvPicPr>
          <p:cNvPr id="123" name="Picture 122" descr="Jee Kay International Track Pvt. Urla Raip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4" name="Table 123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774662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9219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1.19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5" name="Table 124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267357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1.27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273041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1.22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234264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Bar Diameter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Visual  (Sheared Edges, Surface Defects)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3840480"/>
            <a:ext cx="164592" cy="16459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87000" y="38221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MPI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KALIMATA ISPAT  (Unit-1) Howrah West Bengal</a:t>
            </a:r>
          </a:p>
        </p:txBody>
      </p:sp>
      <p:pic>
        <p:nvPicPr>
          <p:cNvPr id="119" name="Picture 118" descr="KALIMATA ISPAT  (Unit-1) Howrah West Ben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1900765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19912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1.05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1" name="Table 120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9144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26708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0.14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275977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277280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1.04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195702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1.66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218950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1.14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231607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1.21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189733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1.15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298771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0.53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139254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1.09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46783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1.63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KALIMATA ISPAT (Unit-II) Durgapur West Bengal</a:t>
            </a:r>
          </a:p>
        </p:txBody>
      </p:sp>
      <p:pic>
        <p:nvPicPr>
          <p:cNvPr id="123" name="Picture 122" descr="KALIMATA ISPAT (Unit-II) Durgapur West Beng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4" name="Table 123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2577961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17320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0.67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5" name="Table 124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12192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107377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0.44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334893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0.71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432347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0.70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453521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423755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0.84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356696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0.48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313842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0.50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155530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 (less weight)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Bar Diameter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3840480"/>
            <a:ext cx="164592" cy="164592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87000" y="38221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Flat Bearing Area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058400" y="4160520"/>
            <a:ext cx="164592" cy="16459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287000" y="41422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Visual  (Sheared Edges, Surface Defects)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KALIMATA VYAPAAR (Unit-II) Durgapur West Bengal</a:t>
            </a:r>
          </a:p>
        </p:txBody>
      </p:sp>
      <p:pic>
        <p:nvPicPr>
          <p:cNvPr id="121" name="Picture 120" descr="KALIMATA VYAPAAR (Unit-II) Durgapur West Ben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22" name="Table 121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4172926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99939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2.39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109728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639221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2.09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473333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41508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8.77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526344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1.65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501848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1.34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421734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1.31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376988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1.96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475451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1.63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500964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1.17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257043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1.23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4" name="TextBox 123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KDS ENGG. PVT. LTD. Howrah West Bengal</a:t>
            </a:r>
          </a:p>
        </p:txBody>
      </p:sp>
      <p:pic>
        <p:nvPicPr>
          <p:cNvPr id="125" name="Picture 124" descr="KDS ENGG. PVT. LTD. Howrah West Beng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392913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4046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1.03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7" name="Table 126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13716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85467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0.95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148627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0.99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39589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0.82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38729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1.01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49717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1.39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30784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Bar Diameter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MPI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3840480"/>
            <a:ext cx="164592" cy="164592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87000" y="38221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Flat Bearing Area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KRISHNA INFRATECH Jharsuguda Odisha</a:t>
            </a:r>
          </a:p>
        </p:txBody>
      </p:sp>
      <p:pic>
        <p:nvPicPr>
          <p:cNvPr id="119" name="Picture 118" descr="KRISHNA INFRATECH Jharsuguda Odis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1896445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18130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0.96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1" name="Table 120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8440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134973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42995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0.73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95341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1.01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131959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228724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1.01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175431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155794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0.97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205140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0.96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201251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1.03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280351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142851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0.80</a:t>
                      </a:r>
                    </a:p>
                  </a:txBody>
                  <a:tcPr/>
                </a:tc>
              </a:tr>
              <a:tr h="8440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101635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KSE ELECTRICALS PVT LTD Howrah West Bengal</a:t>
            </a:r>
          </a:p>
        </p:txBody>
      </p:sp>
      <p:pic>
        <p:nvPicPr>
          <p:cNvPr id="123" name="Picture 122" descr="KSE ELECTRICALS PVT LTD Howrah West Beng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4" name="Table 123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5179405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45940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0.89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5" name="Table 124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9144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680214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0.89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840556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0.93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571012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0.99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641496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0.91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380553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0.84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176257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335406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0.75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447014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1.08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576522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0.94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276461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0.93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253914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Visual  (Sheared Edges, Surface Defects)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Bar Diameter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Toe load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3840480"/>
            <a:ext cx="164592" cy="164592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87000" y="38221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Hardness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058400" y="4160520"/>
            <a:ext cx="164592" cy="16459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287000" y="41422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MPI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LNVS INFRA PVT. LTD Tatanagar Jharkhand</a:t>
            </a:r>
          </a:p>
        </p:txBody>
      </p:sp>
      <p:pic>
        <p:nvPicPr>
          <p:cNvPr id="121" name="Picture 120" descr="LNVS INFRA PVT. LTD Tatanagar Jharkh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22" name="Table 121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1080103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16207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1.50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8440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114427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1.72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156270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0.44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73944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140773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2.07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124745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1.35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84033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5.75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131555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1.06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103185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72952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0.81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2.95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46577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0.87</a:t>
                      </a:r>
                    </a:p>
                  </a:txBody>
                  <a:tcPr/>
                </a:tc>
              </a:tr>
              <a:tr h="8440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4" name="TextBox 123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Lauls Private Ltd. Faridabad Haryana</a:t>
            </a:r>
          </a:p>
        </p:txBody>
      </p:sp>
      <p:pic>
        <p:nvPicPr>
          <p:cNvPr id="125" name="Picture 124" descr="Lauls Private Ltd. Faridabad Hary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701858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0.23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7" name="Table 126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13716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47132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0.37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110750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0.33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101006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0.35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115072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0.33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104934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0.22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121436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0.07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101528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MPI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Bar Diameter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Marking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384048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87000" y="38221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058400" y="4160520"/>
            <a:ext cx="164592" cy="164592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287000" y="41422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Hardness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M.K.Corporation</a:t>
            </a:r>
          </a:p>
        </p:txBody>
      </p:sp>
      <p:pic>
        <p:nvPicPr>
          <p:cNvPr id="121" name="Picture 120" descr="M.K.Corp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22" name="Table 121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96807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1.02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33900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28171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34736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1.33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4" name="TextBox 123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Panna Lal Kanhiya Lal Bansal LLP Sonipat Haryana</a:t>
            </a:r>
          </a:p>
        </p:txBody>
      </p:sp>
      <p:pic>
        <p:nvPicPr>
          <p:cNvPr id="125" name="Picture 124" descr="Panna Lal Kanhiya Lal Bansal LLP Sonipat Hary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742210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5004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0.67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7" name="Table 126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109728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43328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1.46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24166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82110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0.96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194320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0.69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107018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0.60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98912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0.58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88768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93116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0.33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MPI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Marking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Bar Diameter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384048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87000" y="38221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Pathik Engineering Works Rajnandgaon Chhatishgarh</a:t>
            </a:r>
          </a:p>
        </p:txBody>
      </p:sp>
      <p:pic>
        <p:nvPicPr>
          <p:cNvPr id="119" name="Picture 118" descr="Pathik Engineering Works Rajnandgaon Chhatishgar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1403246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21240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1.51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1" name="Table 120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9144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251347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1.49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225613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1.44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149357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2.08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165540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188288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1.83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157911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2.27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180647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1.49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84543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Patil Rail Infrastructure pvt ltd Yellampet, Hyderabad  Telangana</a:t>
            </a:r>
          </a:p>
        </p:txBody>
      </p:sp>
      <p:pic>
        <p:nvPicPr>
          <p:cNvPr id="123" name="Picture 122" descr="Patil Rail Infrastructure pvt ltd Yellampet Hyderabad  Telang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4" name="Table 123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2633653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15154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0.58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5" name="Table 124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8440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142298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364147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264246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0.57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469375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40345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241285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0.83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228974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0.94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144049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1.17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48716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1.68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195845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0.45</a:t>
                      </a:r>
                    </a:p>
                  </a:txBody>
                  <a:tcPr/>
                </a:tc>
              </a:tr>
              <a:tr h="8440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227475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MPI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Bar Diameter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Visual  (Sheared Edges, Surface Defects)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Prakash Metallics Pvt Ltd Raipur  Chhatishgarh</a:t>
            </a:r>
          </a:p>
        </p:txBody>
      </p:sp>
      <p:pic>
        <p:nvPicPr>
          <p:cNvPr id="117" name="Picture 116" descr="Prakash Metallics Pvt Ltd Raipur  Chhatishgar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3133501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40477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1.29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9" name="Table 118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8440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326870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1.89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305540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1.44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319442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220523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1.73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348192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1.61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329428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1.31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244796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1.28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303221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147264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1.04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153192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86472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1.51</a:t>
                      </a:r>
                    </a:p>
                  </a:txBody>
                  <a:tcPr/>
                </a:tc>
              </a:tr>
              <a:tr h="8440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158127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0" name="TextBox 119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Prakash Monomers Pvt Ltd Raipur  Chhatishgarh</a:t>
            </a:r>
          </a:p>
        </p:txBody>
      </p:sp>
      <p:pic>
        <p:nvPicPr>
          <p:cNvPr id="121" name="Picture 120" descr="Prakash Monomers Pvt Ltd Raipur  Chhatishgar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2" name="Table 121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826826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5991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0.72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8440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215238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27942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1.80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150277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47351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1.36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241301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0.35</a:t>
                      </a:r>
                    </a:p>
                  </a:txBody>
                  <a:tcPr/>
                </a:tc>
              </a:tr>
              <a:tr h="8440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144717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Marking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Hardness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Bar Diameter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Qualite Steels Sirsa</a:t>
            </a:r>
          </a:p>
        </p:txBody>
      </p:sp>
      <p:pic>
        <p:nvPicPr>
          <p:cNvPr id="117" name="Picture 116" descr="Qualite Steels Si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372579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0.39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9" name="Table 118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21945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102349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0.44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0.40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146180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0.40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51550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0" name="TextBox 119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R Rashmi Industries, Jaipur</a:t>
            </a:r>
          </a:p>
        </p:txBody>
      </p:sp>
      <p:pic>
        <p:nvPicPr>
          <p:cNvPr id="121" name="Picture 120" descr="R Rashmi Industries Jaip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2" name="Table 121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158416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0.45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158416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Marking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Bar Diameter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MPI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384048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87000" y="38221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Royal Infraconstru Raipur  Chhatishgarh</a:t>
            </a:r>
          </a:p>
        </p:txBody>
      </p:sp>
      <p:pic>
        <p:nvPicPr>
          <p:cNvPr id="119" name="Picture 118" descr="Royal Infraconstru Raipur  Chhatishgar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4082815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40977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1" name="Table 120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99752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99752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312134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1.23</a:t>
                      </a:r>
                    </a:p>
                  </a:txBody>
                  <a:tcPr/>
                </a:tc>
              </a:tr>
              <a:tr h="99752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570551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0.74</a:t>
                      </a:r>
                    </a:p>
                  </a:txBody>
                  <a:tcPr/>
                </a:tc>
              </a:tr>
              <a:tr h="99752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530812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1.10</a:t>
                      </a:r>
                    </a:p>
                  </a:txBody>
                  <a:tcPr/>
                </a:tc>
              </a:tr>
              <a:tr h="99752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574850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0.95</a:t>
                      </a:r>
                    </a:p>
                  </a:txBody>
                  <a:tcPr/>
                </a:tc>
              </a:tr>
              <a:tr h="99752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692025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0.95</a:t>
                      </a:r>
                    </a:p>
                  </a:txBody>
                  <a:tcPr/>
                </a:tc>
              </a:tr>
              <a:tr h="99752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517609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5469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1.06</a:t>
                      </a:r>
                    </a:p>
                  </a:txBody>
                  <a:tcPr/>
                </a:tc>
              </a:tr>
              <a:tr h="99752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272990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1.17</a:t>
                      </a:r>
                    </a:p>
                  </a:txBody>
                  <a:tcPr/>
                </a:tc>
              </a:tr>
              <a:tr h="99752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273163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2876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99752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1.00</a:t>
                      </a:r>
                    </a:p>
                  </a:txBody>
                  <a:tcPr/>
                </a:tc>
              </a:tr>
              <a:tr h="997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147286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Royal fasteners Raipur  Chhatishgarh</a:t>
            </a:r>
          </a:p>
        </p:txBody>
      </p:sp>
      <p:pic>
        <p:nvPicPr>
          <p:cNvPr id="123" name="Picture 122" descr="Royal fasteners Raipur  Chhatishgar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4" name="Table 123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1102805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1.05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5" name="Table 124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9144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73292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0.96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225801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135714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137066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1.19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199442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84951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1.39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118911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83160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0.33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MPI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Bar Diameter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3840480"/>
            <a:ext cx="164592" cy="164592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87000" y="38221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Hardness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Sai Kripa Industries Durg Chhatishgarh</a:t>
            </a:r>
          </a:p>
        </p:txBody>
      </p:sp>
      <p:pic>
        <p:nvPicPr>
          <p:cNvPr id="119" name="Picture 118" descr="Sai Kripa Industries Durg Chhatishgar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785776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13765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1.75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1" name="Table 120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8440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74513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0.85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92316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57308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59927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1.67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104520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2.31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92968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2.40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68771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1.99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33280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3.59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88237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2.07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3.59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59471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1.41</a:t>
                      </a:r>
                    </a:p>
                  </a:txBody>
                  <a:tcPr/>
                </a:tc>
              </a:tr>
              <a:tr h="8440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Sheth &amp; Co.</a:t>
            </a:r>
          </a:p>
        </p:txBody>
      </p:sp>
      <p:pic>
        <p:nvPicPr>
          <p:cNvPr id="123" name="Picture 122" descr="Sheth &amp; Co.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4" name="Table 123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528826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3988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0.75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5" name="Table 124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18288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66072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1.81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163101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0.52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93717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0.80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157647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0.48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48289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Marking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Hardness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Siddartha Metal Fabricators Faridabad Haryana</a:t>
            </a:r>
          </a:p>
        </p:txBody>
      </p:sp>
      <p:pic>
        <p:nvPicPr>
          <p:cNvPr id="111" name="Picture 110" descr="Siddartha Metal Fabricators Faridabad Hary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986860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6374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0.65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3" name="Table 112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109728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160216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0.68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70536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0.64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133305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0.67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93037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0.93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148209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0.90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77638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0.83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118323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0.66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125428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0.22</a:t>
                      </a:r>
                    </a:p>
                  </a:txBody>
                  <a:tcPr/>
                </a:tc>
              </a:tr>
              <a:tr h="10972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60168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4" name="TextBox 113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Super Steels Mohali Punjab</a:t>
            </a:r>
          </a:p>
        </p:txBody>
      </p:sp>
      <p:pic>
        <p:nvPicPr>
          <p:cNvPr id="115" name="Picture 114" descr="Super Steels Mohali Punj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16" name="Table 115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239208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0.27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21945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60342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0.36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109376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0.28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46850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0.20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Bar Diameter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Visual  (Sheared Edges, Surface Defects)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Toe load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Surya Alloys Industries Limited Durgapur West Bengal</a:t>
            </a:r>
          </a:p>
        </p:txBody>
      </p:sp>
      <p:pic>
        <p:nvPicPr>
          <p:cNvPr id="117" name="Picture 116" descr="Surya Alloys Industries Limited Durgapur West Ben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21066131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322473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1.53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9" name="Table 118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8440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1754068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27636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1.58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221849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13.99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1820686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29186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1.60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1873280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30843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1.65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1867938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31339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1.68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1686431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25779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1.53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1837714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26991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1.47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2114630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29048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1.37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1925013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32876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1.71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2285388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32605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1.43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1534702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0.98</a:t>
                      </a:r>
                    </a:p>
                  </a:txBody>
                  <a:tcPr/>
                </a:tc>
              </a:tr>
              <a:tr h="8440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1220892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0" name="TextBox 119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TECHMA ENGG. Howrah West Bengal</a:t>
            </a:r>
          </a:p>
        </p:txBody>
      </p:sp>
      <p:pic>
        <p:nvPicPr>
          <p:cNvPr id="121" name="Picture 120" descr="TECHMA ENGG. Howrah West Beng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2" name="Table 121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273552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3221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1.18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156754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156754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156754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156754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52491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1.41</a:t>
                      </a:r>
                    </a:p>
                  </a:txBody>
                  <a:tcPr/>
                </a:tc>
              </a:tr>
              <a:tr h="156754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121732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1.00</a:t>
                      </a:r>
                    </a:p>
                  </a:txBody>
                  <a:tcPr/>
                </a:tc>
              </a:tr>
              <a:tr h="156754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69663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0.97</a:t>
                      </a:r>
                    </a:p>
                  </a:txBody>
                  <a:tcPr/>
                </a:tc>
              </a:tr>
              <a:tr h="15675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29666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1.97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MPI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Bar Diameter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Toe load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384048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87000" y="38221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Technosteel Infraprojects Nagpur  Maharastra</a:t>
            </a:r>
          </a:p>
        </p:txBody>
      </p:sp>
      <p:pic>
        <p:nvPicPr>
          <p:cNvPr id="119" name="Picture 118" descr="Technosteel Infraprojects Nagpur  Maharas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732640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6674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0.91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1" name="Table 120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13716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210448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0.69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50964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0.49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233239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232477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UTKARSH INDIA LIMITED Howrah West Bengal</a:t>
            </a:r>
          </a:p>
        </p:txBody>
      </p:sp>
      <p:pic>
        <p:nvPicPr>
          <p:cNvPr id="123" name="Picture 122" descr="UTKARSH INDIA LIMITED Howrah West Beng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4" name="Table 123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1268319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16050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1.27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5" name="Table 124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9144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73296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1.20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123518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1.29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127660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1.23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122296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4.20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114287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187515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247141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0.68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172632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0.99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83437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058400" y="1280160"/>
            <a:ext cx="164592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87000" y="12618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Embossing Die Impression / Failure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1600200"/>
            <a:ext cx="164592" cy="1645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87000" y="1581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Marking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1920240"/>
            <a:ext cx="164592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19019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Dimensional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58400" y="2240280"/>
            <a:ext cx="164592" cy="164592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87000" y="22219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Hardness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2560320"/>
            <a:ext cx="164592" cy="16459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25420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Cut bar length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8400" y="2880360"/>
            <a:ext cx="164592" cy="16459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287000" y="28620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Turning length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0" y="3200400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31821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Others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3520440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87000" y="35021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Forging defect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3840480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87000" y="38221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MPI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058400" y="4160520"/>
            <a:ext cx="164592" cy="164592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287000" y="41422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Visual  (Sheared Edges, Surface Defects)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4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Vedkiran Steel Industries Pvt. Ltd. Batala Punjab</a:t>
            </a:r>
          </a:p>
        </p:txBody>
      </p:sp>
      <p:pic>
        <p:nvPicPr>
          <p:cNvPr id="121" name="Picture 120" descr="Vedkiran Steel Industries Pvt. Ltd. Batala Punj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4389120" cy="3474720"/>
          </a:xfrm>
          <a:prstGeom prst="rect">
            <a:avLst/>
          </a:prstGeom>
        </p:spPr>
      </p:pic>
      <p:graphicFrame>
        <p:nvGraphicFramePr>
          <p:cNvPr id="122" name="Table 121"/>
          <p:cNvGraphicFramePr>
            <a:graphicFrameLocks noGrp="1"/>
          </p:cNvGraphicFramePr>
          <p:nvPr/>
        </p:nvGraphicFramePr>
        <p:xfrm>
          <a:off x="914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1438413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5925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0.41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914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84406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118811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0.58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78686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0.56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154454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0.54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123402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0.53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150503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0.55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115784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0.46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131433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0.42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168616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0.35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146597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0.37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41934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0.26</a:t>
                      </a:r>
                    </a:p>
                  </a:txBody>
                  <a:tcPr/>
                </a:tc>
              </a:tr>
              <a:tr h="84406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184539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0.07</a:t>
                      </a:r>
                    </a:p>
                  </a:txBody>
                  <a:tcPr/>
                </a:tc>
              </a:tr>
              <a:tr h="8440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Apr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23654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4" name="TextBox 123"/>
          <p:cNvSpPr txBox="1"/>
          <p:nvPr/>
        </p:nvSpPr>
        <p:spPr>
          <a:xfrm>
            <a:off x="5486400" y="548640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latin typeface="Calibri"/>
              </a:rPr>
              <a:t>Veera Track Fasteners Rajnandgaon Chhatishgarh</a:t>
            </a:r>
          </a:p>
        </p:txBody>
      </p:sp>
      <p:pic>
        <p:nvPicPr>
          <p:cNvPr id="125" name="Picture 124" descr="Veera Track Fasteners Rajnandgaon Chhatishgar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05840"/>
            <a:ext cx="4389120" cy="3474720"/>
          </a:xfrm>
          <a:prstGeom prst="rect">
            <a:avLst/>
          </a:prstGeom>
        </p:spPr>
      </p:pic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0" y="4572000"/>
          <a:ext cx="4389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775661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7656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0.99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7" name="Table 126"/>
          <p:cNvGraphicFramePr>
            <a:graphicFrameLocks noGrp="1"/>
          </p:cNvGraphicFramePr>
          <p:nvPr/>
        </p:nvGraphicFramePr>
        <p:xfrm>
          <a:off x="5486400" y="5486400"/>
          <a:ext cx="4389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121920"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8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43801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1.06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184846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1.08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15416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1.30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125347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1.15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52406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0.47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169770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0.79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165131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0.66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18944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4.69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ERC Inspection – Since April 2025</a:t>
            </a:r>
          </a:p>
        </p:txBody>
      </p:sp>
      <p:graphicFrame>
        <p:nvGraphicFramePr>
          <p:cNvPr id="101" name="Table 100"/>
          <p:cNvGraphicFramePr>
            <a:graphicFrameLocks noGrp="1"/>
          </p:cNvGraphicFramePr>
          <p:nvPr/>
        </p:nvGraphicFramePr>
        <p:xfrm>
          <a:off x="548640" y="1005840"/>
          <a:ext cx="59436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t>Cumulative 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t>Cumulative Rejection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t>Rejection (%)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 b="0"/>
                      </a:pPr>
                      <a:r>
                        <a:t>78467701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/>
                      </a:pPr>
                      <a:r>
                        <a:t>897444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/>
                      </a:pPr>
                      <a:r>
                        <a:t>1.14%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2" name="Table 101"/>
          <p:cNvGraphicFramePr>
            <a:graphicFrameLocks noGrp="1"/>
          </p:cNvGraphicFramePr>
          <p:nvPr/>
        </p:nvGraphicFramePr>
        <p:xfrm>
          <a:off x="548640" y="2194560"/>
          <a:ext cx="5943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248194"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Inspected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Rejected (Nos.)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b="1" sz="900"/>
                      </a:pPr>
                      <a:r>
                        <a:t>% Rej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Apr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4961800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64741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1.30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Mar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5944338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92275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1.55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Feb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8287363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126343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1.52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Jan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8355625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91921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1.10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Dec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7952451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94208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1.18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Nov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7111339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84579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1.19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Oct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6582698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78969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1.20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Sep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7768556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81454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Aug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6206567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68591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1.11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Jul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6019893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65240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1.08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3745345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31913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0.85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May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3273994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8900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0.27</a:t>
                      </a:r>
                    </a:p>
                  </a:txBody>
                  <a:tcPr/>
                </a:tc>
              </a:tr>
              <a:tr h="24819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Apr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2257732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8310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0.37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3" name="Picture 102" descr="overall_defec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822960"/>
            <a:ext cx="5760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Plant-wise Rejection Trend (Rejection &gt; 1%)</a:t>
            </a:r>
          </a:p>
        </p:txBody>
      </p:sp>
      <p:pic>
        <p:nvPicPr>
          <p:cNvPr id="101" name="Picture 100" descr="spider_rejection_g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058400" cy="61897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Top Performing Manufacturers (Lowest Rejection %)</a:t>
            </a:r>
          </a:p>
        </p:txBody>
      </p:sp>
      <p:pic>
        <p:nvPicPr>
          <p:cNvPr id="101" name="Picture 100" descr="best_perfor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058400" cy="534579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Worst Performing Manufacturers (Highest Rejection %)</a:t>
            </a:r>
          </a:p>
        </p:txBody>
      </p:sp>
      <p:pic>
        <p:nvPicPr>
          <p:cNvPr id="101" name="Picture 100" descr="worst_perfor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058400" cy="528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Pareto Analysis for ERC Defects</a:t>
            </a:r>
          </a:p>
        </p:txBody>
      </p:sp>
      <p:pic>
        <p:nvPicPr>
          <p:cNvPr id="101" name="Picture 100" descr="pareto_de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058400" cy="45720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828800" y="5760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t>Highlights: Top defects contribute to ~80% of total rejections, enabling focused process control.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Manufacturing Units: High Production Units</a:t>
            </a:r>
          </a:p>
        </p:txBody>
      </p:sp>
      <p:pic>
        <p:nvPicPr>
          <p:cNvPr id="101" name="Picture 100" descr="top_performing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058400" cy="453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5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Lato</vt:lpstr>
      <vt:lpstr>Univers Condensed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ntn</dc:creator>
  <cp:lastModifiedBy>Nitin  Rajput</cp:lastModifiedBy>
  <cp:revision>11</cp:revision>
  <dcterms:created xsi:type="dcterms:W3CDTF">2025-12-15T06:44:11Z</dcterms:created>
  <dcterms:modified xsi:type="dcterms:W3CDTF">2026-02-01T17:31:32Z</dcterms:modified>
</cp:coreProperties>
</file>